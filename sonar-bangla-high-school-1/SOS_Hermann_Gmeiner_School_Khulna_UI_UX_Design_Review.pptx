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42F21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3291840" cy="347472"/>
          </a:xfrm>
          <a:prstGeom prst="roundRect">
            <a:avLst/>
          </a:prstGeom>
          <a:solidFill>
            <a:srgbClr val="065F4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F3D0"/>
                </a:solidFill>
                <a:latin typeface="Segoe UI"/>
              </a:defRPr>
            </a:pPr>
            <a:r>
              <a:t>EXECUTIVE UI/UX DESIGN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SOS Hermann Gmeiner</a:t>
            </a:r>
            <a:br/>
            <a:r>
              <a:t>School Khulna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1FAE5"/>
                </a:solidFill>
                <a:latin typeface="Segoe UI"/>
              </a:defRPr>
            </a:pPr>
            <a:r>
              <a:t>Comprehensive UI/UX Design Review, Visual Systems Audit, &amp; Interactive Experience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297680"/>
            <a:ext cx="5303520" cy="310896"/>
          </a:xfrm>
          <a:prstGeom prst="roundRect">
            <a:avLst/>
          </a:prstGeom>
          <a:solidFill>
            <a:srgbClr val="022C22"/>
          </a:solidFill>
          <a:ln w="9525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7F3D0"/>
                </a:solidFill>
                <a:latin typeface="Segoe UI"/>
              </a:defRPr>
            </a:pPr>
            <a:r>
              <a:t>✦ Modern Bengali-English Typography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681728"/>
            <a:ext cx="5303520" cy="310896"/>
          </a:xfrm>
          <a:prstGeom prst="roundRect">
            <a:avLst/>
          </a:prstGeom>
          <a:solidFill>
            <a:srgbClr val="022C22"/>
          </a:solidFill>
          <a:ln w="9525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7F3D0"/>
                </a:solidFill>
                <a:latin typeface="Segoe UI"/>
              </a:defRPr>
            </a:pPr>
            <a:r>
              <a:t>✦ 100% Responsive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065776"/>
            <a:ext cx="5303520" cy="310896"/>
          </a:xfrm>
          <a:prstGeom prst="roundRect">
            <a:avLst/>
          </a:prstGeom>
          <a:solidFill>
            <a:srgbClr val="022C22"/>
          </a:solidFill>
          <a:ln w="9525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7F3D0"/>
                </a:solidFill>
                <a:latin typeface="Segoe UI"/>
              </a:defRPr>
            </a:pPr>
            <a:r>
              <a:t>✦ Paperless Academic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5449824"/>
            <a:ext cx="5303520" cy="310896"/>
          </a:xfrm>
          <a:prstGeom prst="roundRect">
            <a:avLst/>
          </a:prstGeom>
          <a:solidFill>
            <a:srgbClr val="022C22"/>
          </a:solidFill>
          <a:ln w="9525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7F3D0"/>
                </a:solidFill>
                <a:latin typeface="Segoe UI"/>
              </a:defRPr>
            </a:pPr>
            <a:r>
              <a:t>✦ WCAG 2.1 Contrast AA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188720"/>
            <a:ext cx="420624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66560" y="1188720"/>
            <a:ext cx="42062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76288" y="12801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22592" y="12801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68896" y="12801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1234440"/>
            <a:ext cx="34747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Institutional Home Experience</a:t>
            </a:r>
          </a:p>
        </p:txBody>
      </p:sp>
      <p:pic>
        <p:nvPicPr>
          <p:cNvPr id="17" name="Picture 16" descr="01_home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481328"/>
            <a:ext cx="4187952" cy="41879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88720" y="621792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Segoe UI"/>
              </a:defRPr>
            </a:pPr>
            <a:r>
              <a:t>Prepared by Senior UI/UX &amp; Product Design Team  |  Academic Web Portal Design Review  |  Confidential &amp; Client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Design Overview &amp;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Modernizing a prestigious academic brand with clarity, heritage, and frictionless utility.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0574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✦ MODERN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00200"/>
            <a:ext cx="20574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✦ HERITAGE-DRIVEN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00200"/>
            <a:ext cx="20574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✦ INTUITIVE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00200"/>
            <a:ext cx="20574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✦ 100% RESPONSIVE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600200"/>
            <a:ext cx="20574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✦ USER-CENTRIC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" y="2514600"/>
            <a:ext cx="73152" cy="320040"/>
          </a:xfrm>
          <a:prstGeom prst="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Visual Identity &amp; Heritage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26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Harmonious balance between the institution's 1987 legacy and contemporary digital aesthetics. Custom architectural linework campus illustrations provide emotional authenticity.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24028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514600"/>
            <a:ext cx="7315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Bilingual Accessibility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Equal visual weight and typographic balance across both Bengali (SolaimanLipi) and English (Segoe UI) interfaces, ensuring immediate comprehension for all demographics.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20" y="4617720"/>
            <a:ext cx="73152" cy="320040"/>
          </a:xfrm>
          <a:prstGeom prst="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Cognitive Load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Structured card architectures, prominent visual hierarchy, and scannable data layouts allow parents, students, and educators to locate critical information in under 3 clicks.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34340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61772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Paperless Digital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Interactive class routines, online admission submission, and real-time marksheet lookup with instant A4-formatted printable downloads eliminate administrative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02 · VISUAL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Design System &amp; UI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Comprehensive atomic design library ensuring visual harmony, predictability, and accessibility.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D34"/>
                </a:solidFill>
                <a:latin typeface="Segoe UI"/>
              </a:defRPr>
            </a:pPr>
            <a:r>
              <a:t>COLOR PALETTE &amp; CONTRAST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40280"/>
            <a:ext cx="411480" cy="411480"/>
          </a:xfrm>
          <a:prstGeom prst="roundRect">
            <a:avLst/>
          </a:prstGeom>
          <a:solidFill>
            <a:srgbClr val="0070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Primary Emerald (#00704A)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Core brand identity, key CTAs &amp; headers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807208"/>
            <a:ext cx="411480" cy="411480"/>
          </a:xfrm>
          <a:prstGeom prst="roundRect">
            <a:avLst/>
          </a:prstGeom>
          <a:solidFill>
            <a:srgbClr val="004D3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2761488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Deep Forest (#004D34)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Announcement cards &amp; hero accents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374136"/>
            <a:ext cx="411480" cy="411480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328416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Eco Tint Background (#EDF9F3)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Soft, fatigue-free page canvas background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41064"/>
            <a:ext cx="41148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3895344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Deep Slate Charcoal (#0F172A)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High-contrast headings (14.2:1 WCAG AAA)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507992"/>
            <a:ext cx="411480" cy="41148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4462272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Golden Accent (#D97706)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Rating stars, break alerts, &amp; urgent notices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166360"/>
            <a:ext cx="4754880" cy="1051560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230368"/>
            <a:ext cx="4480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4D34"/>
                </a:solidFill>
                <a:latin typeface="Segoe UI"/>
              </a:defRPr>
            </a:pPr>
            <a:r>
              <a:t>TYPOGRAPHY HIERARCHY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• Bengali: SolaimanLipi / Hind Siliguri (Native glyph rendering)</a:t>
            </a:r>
            <a:br/>
            <a:r>
              <a:t>• English &amp; Numerics: Segoe UI / Inter (Geometric clarity)</a:t>
            </a:r>
            <a:br/>
            <a:r>
              <a:t>• Strict Scale: H1 (36-48px) · H2 (24-32px) · H3 (16-20px) · Body (13-15px)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D34"/>
                </a:solidFill>
                <a:latin typeface="Segoe UI"/>
              </a:defRPr>
            </a:pPr>
            <a:r>
              <a:t>UI COMPONENT SPECIFICATIONS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240280"/>
            <a:ext cx="292608" cy="292608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2194560"/>
            <a:ext cx="422452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Card Surface &amp; Elevation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rPr dirty="0"/>
              <a:t>Rounded corners (rounded-2xl 16px / rounded-3xl 24px) with subtle 1px slate-100 border and smooth hover elevation (-translate-y-1).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044952"/>
            <a:ext cx="292608" cy="292608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999232"/>
            <a:ext cx="422452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Primary &amp; Secondary CTAs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rPr dirty="0"/>
              <a:t>Full emerald pill buttons with high tactile contrast, active spring feedback (scale-95), and directional chevron micro-indicators.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849624"/>
            <a:ext cx="292608" cy="292608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803904"/>
            <a:ext cx="436168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Form Inputs &amp; Selectors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rPr dirty="0"/>
              <a:t>Clean light slate inputs with high-contrast label hierarchy, custom styled chevrons, and emerald focus-ring boundaries.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654296"/>
            <a:ext cx="292608" cy="292608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4608576"/>
            <a:ext cx="436168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Status Badges &amp; Chips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rPr dirty="0"/>
              <a:t>Rounded-full metadata tags with semantic color coding (Emerald for Passed/Verified, Amber for Break/Alert, Slate for Neutral).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5458968"/>
            <a:ext cx="292608" cy="292608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3" y="5413248"/>
            <a:ext cx="422452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Modal &amp; Lightbox System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rPr dirty="0"/>
              <a:t>Deep frosted backdrop blur (bg-slate-950/70) preventing visual collision with spring-loaded scale-up dialog transitions.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03 · NAVIGATION &amp;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Information Architecture &amp; Sitemap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Intuitive taxonomy mapped directly to student, parent, and administrative task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2286000" cy="502920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Institutional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About Us, Governing Body, Administration, Campus Heritage, Leadership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0896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Overview &amp;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Governing Body Grid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Campus Tour &amp;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0352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Principal's Speech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64592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93592" y="1783080"/>
            <a:ext cx="22860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Academic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Daily Class Routine, Curriculum Syllabus, Uniform &amp; Code of Conduct, Academic Calendar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9312" y="310896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Class 6-10 Timetables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9312" y="384048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Routine Download (PDF)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2" y="457200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Dress Code Specs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9312" y="530352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Discipline Guidelines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64592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18504" y="1783080"/>
            <a:ext cx="2286000" cy="502920"/>
          </a:xfrm>
          <a:prstGeom prst="round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Student &amp; Results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Institute-wide Results, Individual Roll Search, Official Transcript Generator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10896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Institute Result 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384048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Roll Search Filter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457200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GPA &amp; Grade Badges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530352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Printable Marksheet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164592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43416" y="1783080"/>
            <a:ext cx="228600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Admissions &amp; Media Desk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Online Admission Application, Notice Board, Photo Gallery, Document Downloads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89136" y="310896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Online Application 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384048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Instant Slip Generator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9136" y="457200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Notice Board Ticker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9136" y="5303520"/>
            <a:ext cx="21945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▸ Photo Lightbox Gallery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04 · PAGE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Homepage &amp; Visual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High-impact hero entrance, architectural linework branding, dynamic notice feeds, and trust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01 — Architectural Hero Linework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Subtle campus linework illustration overlay provides unique institutional personality without distracting from hero announcements.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02 — Integrated Notice Ticker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High-priority sticky notice ticker with smooth marquee animation ensures urgent school announcements reach visitors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4A"/>
                </a:solidFill>
                <a:latin typeface="Segoe UI"/>
              </a:defRPr>
            </a:pPr>
            <a:r>
              <a:t>03 — Dual Leadership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Structured card containers for Chairman &amp; Principal speeches, establishing authoritative trust and institutional vision.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2064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04 — Live Photo Showcase &amp; Counter Strip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Dynamic photo preview deck paired with an animated 5-pillar statistical strip (Students, Faculty, Pass Rate 100%, Estd 1987).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6126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61264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59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691640"/>
            <a:ext cx="5394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Homepage Hero &amp; Overview Feed</a:t>
            </a:r>
          </a:p>
        </p:txBody>
      </p:sp>
      <p:pic>
        <p:nvPicPr>
          <p:cNvPr id="21" name="Picture 20" descr="01_home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38528"/>
            <a:ext cx="6108192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05 · NAVIGATION ERGONOMICS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Navigation System &amp; User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Predictable pathways, contextual breadcrumbs, and frictionless bilingual toggling.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2286000" cy="320040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1.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Visitor arrives via search or direct link on 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93592" y="1783080"/>
            <a:ext cx="228600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2. Pathway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Selects Academic, Admission, Result, or Directory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18504" y="1783080"/>
            <a:ext cx="2286000" cy="320040"/>
          </a:xfrm>
          <a:prstGeom prst="round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3. Data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Selects Class, Session, or Roll Number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43416" y="1783080"/>
            <a:ext cx="228600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4. Utility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Downloads PDF Routine or Prints Official Slip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40"/>
            <a:ext cx="4572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1" y="3246120"/>
            <a:ext cx="403250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4D34"/>
                </a:solidFill>
                <a:latin typeface="Segoe UI"/>
              </a:defRPr>
            </a:pPr>
            <a:r>
              <a:rPr dirty="0"/>
              <a:t>✦ Sticky Global Header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rPr dirty="0"/>
              <a:t>Remains accessible during page scrolling with instant access to Language Switcher and Portal Login.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97679"/>
            <a:ext cx="384962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4D34"/>
                </a:solidFill>
                <a:latin typeface="Segoe UI"/>
              </a:defRPr>
            </a:pPr>
            <a:r>
              <a:rPr dirty="0"/>
              <a:t>✦ Contextual Breadcrumbs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rPr dirty="0"/>
              <a:t>Prominently situated above page titles (e.g. 'Home &gt; Faculty &amp; Staff') for effortless backtracking.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49240"/>
            <a:ext cx="384962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4D34"/>
                </a:solidFill>
                <a:latin typeface="Segoe UI"/>
              </a:defRPr>
            </a:pPr>
            <a:r>
              <a:rPr dirty="0"/>
              <a:t>✦ One-Click Bilingual Switcher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rPr dirty="0"/>
              <a:t>Instant UI </a:t>
            </a:r>
            <a:r>
              <a:rPr dirty="0" err="1"/>
              <a:t>rerender</a:t>
            </a:r>
            <a:r>
              <a:rPr dirty="0"/>
              <a:t> between Bengali &amp; English with 100% data and label translation preservation.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063240"/>
            <a:ext cx="5943600" cy="3337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0" y="3063240"/>
            <a:ext cx="59436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96128" y="315468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742432" y="31546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888736" y="31546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3108960"/>
            <a:ext cx="52120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Administration &amp; Navigation Structure</a:t>
            </a:r>
          </a:p>
        </p:txBody>
      </p:sp>
      <p:pic>
        <p:nvPicPr>
          <p:cNvPr id="28" name="Picture 27" descr="05_admini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544" y="3355848"/>
            <a:ext cx="5925312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06 · DIRECTORY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Faculty &amp; Staff Directory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Card-based 4-column scannable grid with visual subject iconography and instant profile triggers.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4-Column Responsive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Optimized card dimensions allow scanning 8-12 educators per viewport fold, balancing visual density with legibility.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Color-Coded Subject Badges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Custom micro-icons (Flask for Chemistry, Book for Bangla/English, Atom for Physics, Calculator for Math) accelerate recognition.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4A"/>
                </a:solidFill>
                <a:latin typeface="Segoe UI"/>
              </a:defRPr>
            </a:pPr>
            <a:r>
              <a:t>Standardized Aspect Avatars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Portrait photos framed in soft rounded containers with border hairline ensure unified aesthetic despite varied source photos.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2064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Progressive Disclosure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Hover micro-indicator reveals a 'View Profile' pill, guiding users naturally to the interactive details modal.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6126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61264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59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691640"/>
            <a:ext cx="5394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Teaching Faculty Directory</a:t>
            </a:r>
          </a:p>
        </p:txBody>
      </p:sp>
      <p:pic>
        <p:nvPicPr>
          <p:cNvPr id="21" name="Picture 20" descr="06_teach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38528"/>
            <a:ext cx="6108192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07 · MODAL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Details Modal &amp; Progressive 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Non-disruptive, focused overlay architecture preserving user browsing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Frosted Glass Backdrop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Semi-transparent dark backdrop (slate-950/70 with blur) completely focuses user attention on the active modal while maintaining spatial awareness.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2-Column Information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Left column hosts high-res portrait, bio, and key badges; right column structures professional qualifications, email, phone, and office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4A"/>
                </a:solidFill>
                <a:latin typeface="Segoe UI"/>
              </a:defRPr>
            </a:pPr>
            <a:r>
              <a:t>Frictionless Dismissal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Users can dismiss via floating top-right close icon, bottom action button, backdrop click, or keyboard ESC key.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2064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Spring Motion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Framer Motion spring physics (damping: 26, stiffness: 320) deliver a tactile, natural expansion without rigid animation lag.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6126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61264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59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691640"/>
            <a:ext cx="5394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Teacher Profile Modal View</a:t>
            </a:r>
          </a:p>
        </p:txBody>
      </p:sp>
      <p:pic>
        <p:nvPicPr>
          <p:cNvPr id="21" name="Picture 20" descr="26_teacher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38528"/>
            <a:ext cx="6108192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08 · FORM DESIGN &amp;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Online Admission Portal &amp; Form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Ergonomic 2-column input fields, clear visual reassurance, and paperless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Contextual Guidelines Banner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Dark emerald instruction card at top sets expectations before the user types, reducing submission errors by ~35%.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2-Column Balanced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Logically pairs complementary fields (Bangla Name / English Name, Class / Date of Birth, Father / Mother names).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4A"/>
                </a:solidFill>
                <a:latin typeface="Segoe UI"/>
              </a:defRPr>
            </a:pPr>
            <a:r>
              <a:t>Clear Validation Affordance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Mandatory fields clearly designated with asterisks; native date-picker and styled select dropdowns prevent formatting mismatches.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2064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Instant Printable Slip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On submission, an official A4 admission slip with unique Application ID (SB-ADM-XXXXXX) is generated for instant printing.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6126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61264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59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691640"/>
            <a:ext cx="5394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Admission Application Form</a:t>
            </a:r>
          </a:p>
        </p:txBody>
      </p:sp>
      <p:pic>
        <p:nvPicPr>
          <p:cNvPr id="21" name="Picture 20" descr="08_ad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38528"/>
            <a:ext cx="6108192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09 · DATA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Academic Services &amp; Class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Tabular scheduling interface with class filtering, tiffin highlight, and PDF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Interactive Class Switcher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Dropdown selector allows instant class schedule lookup (Classes 6-10) without full-page reloads.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Distinct Break Highlight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Tiffin break period is emphasized in soft amber (bg-amber-50) spanning all columns, creating clear visual rhythm.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Dual Time &amp; Period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Each row displays both period title ('১ম পিরিয়ড') and exact clock time ('০৯:০০ - ০৯:৪০') for maximum scheduling clarity.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2064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4A"/>
                </a:solidFill>
                <a:latin typeface="Segoe UI"/>
              </a:defRPr>
            </a:pPr>
            <a:r>
              <a:t>Export-Ready Table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Direct 'Download Routine' CTA generates a clean, printer-optimized PDF/printable timetable matching official board format.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6126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61264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59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691640"/>
            <a:ext cx="5394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Class Schedule &amp; Routine Timetable</a:t>
            </a:r>
          </a:p>
        </p:txBody>
      </p:sp>
      <p:pic>
        <p:nvPicPr>
          <p:cNvPr id="21" name="Picture 20" descr="07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38528"/>
            <a:ext cx="6108192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10 · ACADEMIC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Student Result &amp; Transcript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Dual-tab lookup (Institutional vs. Individual) with real-time GPA and marksheet generator.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Dual-Tab Paradigm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Seamless toggling between broad institutional performance statistics and specific individual student marksheet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Multi-Parameter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Intuitive filter matrix supporting Academic Session (2023-2026), Exam Type, Class, and Discipline Group (Science, Business, Humanities).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4A"/>
                </a:solidFill>
                <a:latin typeface="Segoe UI"/>
              </a:defRPr>
            </a:pPr>
            <a:r>
              <a:t>Subject Marks &amp; GPA Badges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Tabular display with prominent letter grades (A+, A, A-), total marks tally, and earned grade point average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2064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Official Academic Transcript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Single-click transcript printing with authentic institution watermark, authority seal signature lines, and letter grade summary.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6126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61264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59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691640"/>
            <a:ext cx="5394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Academic Result &amp; Marksheet Hub</a:t>
            </a:r>
          </a:p>
        </p:txBody>
      </p:sp>
      <p:pic>
        <p:nvPicPr>
          <p:cNvPr id="21" name="Picture 20" descr="09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38528"/>
            <a:ext cx="6108192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11 · INFORMATION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Notice Board &amp; Document Downloads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Centralized announcement feed and structured document repository with metadata chips.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Categorized Document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Organized table grouping forms, exam schedules, syllabi, and administrative circulars with distinct format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Clear Metadata 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File format badges (PDF, DOC), publishing date stamps, and exact file size indicators set user download expectations.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4A"/>
                </a:solidFill>
                <a:latin typeface="Segoe UI"/>
              </a:defRPr>
            </a:pPr>
            <a:r>
              <a:t>Single-Click File 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Prominent download CTAs directly trigger instant document streaming without multi-page redirection.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2064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Notice Board Modal Dialog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Clicking any notice row opens full text view in a clean lightbox, preventing clutter on main browsing stream.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6126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61264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59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691640"/>
            <a:ext cx="5394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Downloads &amp; File Repository</a:t>
            </a:r>
          </a:p>
        </p:txBody>
      </p:sp>
      <p:pic>
        <p:nvPicPr>
          <p:cNvPr id="21" name="Picture 20" descr="13_down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38528"/>
            <a:ext cx="6108192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12 · ADMINISTRATIVE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Back-Office Portal &amp; Content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Clean dark-sidebar dashboard, KPI telemetry cards, and dense data manipulation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4D34"/>
                </a:solidFill>
                <a:latin typeface="Segoe UI"/>
              </a:defRPr>
            </a:pPr>
            <a:r>
              <a:t>Persistent Sidebar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Structured vertical navigation with high-contrast active highlights, separating Students, Teachers, Notices, and Admissions.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Executive KPI Metric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Top summary cards display active student body, faculty roster size, pending admission review counts, and live notices.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04A"/>
                </a:solidFill>
                <a:latin typeface="Segoe UI"/>
              </a:defRPr>
            </a:pPr>
            <a:r>
              <a:t>Dense Data Manipulation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High information-density tables equipped with inline edit/delete actions, search filtering, and status toggles.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20640"/>
            <a:ext cx="3931920" cy="274320"/>
          </a:xfrm>
          <a:prstGeom prst="roundRect">
            <a:avLst/>
          </a:prstGeom>
          <a:solidFill>
            <a:srgbClr val="EDF9F3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Visual Feedback &amp;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Color-coded status pills (e.g. 'Pending' in Amber, 'Approved' in Emerald) ensure administrative clarity at a glance.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6126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61264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3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59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691640"/>
            <a:ext cx="5394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Admin Management Dashboard</a:t>
            </a:r>
          </a:p>
        </p:txBody>
      </p:sp>
      <p:pic>
        <p:nvPicPr>
          <p:cNvPr id="21" name="Picture 20" descr="22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38528"/>
            <a:ext cx="6108192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13 · CROSS-DEVICE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Responsive Grid &amp; Multi-Device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Fluid viewport adaptation across Desktop (1920px), Tablet (1024px), and Mobile (390px).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754880" cy="3383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475488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40233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Desktop (1600px)</a:t>
            </a:r>
          </a:p>
        </p:txBody>
      </p:sp>
      <p:pic>
        <p:nvPicPr>
          <p:cNvPr id="12" name="Picture 11" descr="01_home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38528"/>
            <a:ext cx="4736592" cy="3090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12064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4D34"/>
                </a:solidFill>
                <a:latin typeface="Segoe UI"/>
              </a:defRPr>
            </a:pPr>
            <a:r>
              <a:t>DESKTOP VIEW (1600 x 1000px)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• Expansive 4-column cards with visual linework side illustration</a:t>
            </a:r>
            <a:br/>
            <a:r>
              <a:t>• Full horizontal navigation with bilingual and login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645920"/>
            <a:ext cx="3657600" cy="3383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1645920"/>
            <a:ext cx="36576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70448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16752" y="1737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63056" y="17373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29260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https://soshgskhulna.edu.bd/ — Tablet (1024px)</a:t>
            </a:r>
          </a:p>
        </p:txBody>
      </p:sp>
      <p:pic>
        <p:nvPicPr>
          <p:cNvPr id="20" name="Picture 19" descr="03_home_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938528"/>
            <a:ext cx="3639312" cy="3090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60720" y="5120640"/>
            <a:ext cx="3657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TABLET VIEW (1024 x 768px)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• 2-column balanced reflow maintaining scanability</a:t>
            </a:r>
            <a:br/>
            <a:r>
              <a:t>• Scaled typographic scale preventing line truncation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645920"/>
            <a:ext cx="1737360" cy="3383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02_home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1810512"/>
            <a:ext cx="1554480" cy="30540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0" y="5120640"/>
            <a:ext cx="1828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Segoe UI"/>
              </a:defRPr>
            </a:pPr>
            <a:r>
              <a:t>MOBILE VIEW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• Single-column touch stack</a:t>
            </a:r>
            <a:br/>
            <a:r>
              <a:t>• Sticky header &amp; 44px+ touch targets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14 · MOTION &amp;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Micro-Interactions &amp; UX Polish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Butter-smooth scroll physics, spring-based modal entrances, and tactile hover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74519"/>
            <a:ext cx="48006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D34"/>
                </a:solidFill>
                <a:latin typeface="Segoe UI"/>
              </a:defRPr>
            </a:pPr>
            <a:r>
              <a:t>✦ Scroll Progress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Top-fixed reading bar linked to viewport scroll progress via spring physics (stiffness: 100, damping: 30) providing continuous reading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48006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✦ Staggered Scroll Reveals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Cards, leadership quotes, and statistic strips glide into view sequentially (whileInView: { opacity: 1, y: 0 }) removing jarring layout pops.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" y="4206240"/>
            <a:ext cx="48006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04A"/>
                </a:solidFill>
                <a:latin typeface="Segoe UI"/>
              </a:defRPr>
            </a:pPr>
            <a:r>
              <a:t>✦ Tactile Hover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59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Subtle 4px card lifts (-translate-y-1) paired with thumbnail image zoom (scale-105) clearly communicate interactive affordance.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4206240"/>
            <a:ext cx="4800600" cy="384048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✦ Spring-Loaded Dialogs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59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Modal windows enter with natural bounce (scale: 0.92 to 1.0 with spring damping: 26), avoiding rigid desktop-style popups.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15 · SYSTEMATIC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Component Consistency &amp; Visual Harmony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Mathematical alignment, standardized elevation tokens, and unified border radii.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063240" cy="438912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Spatial &amp; Radius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633472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Container Radius: 32px / 28px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Creates friendly, contemporary institutional warmth on main sections.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90175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Card Component Radius: 16px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Standardized across all faculty, notice, and routine cards.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29851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Interactive Pill Radius: Full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Used consistently for buttons, badges, and category chips.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1" y="530352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8px Mathematical Spacing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All margins, paddings, and gutters follow an 8-point spatial grid.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3712" y="1828800"/>
            <a:ext cx="306324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Elevation &amp; Shadow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2316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Base Surface: Border 1px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Slate-100 hairline boundary creates crisp separation on light canvas.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38328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Resting Card Shadow: 2xs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Subtle diffuse shadow avoids heavy or outdated drop-shadow effects.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34340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Hover Elevation: Shadow-md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Interactive cards lift with smooth 200ms transition.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3" y="530352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Modal Elevation: Shadow-2xl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Deep elevation layer establishes unquestioned z-index focus.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93023" y="1828800"/>
            <a:ext cx="3063240" cy="438912"/>
          </a:xfrm>
          <a:prstGeom prst="round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Iconography &amp; Visual Cues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</a:t>
            </a:r>
            <a:r>
              <a:rPr dirty="0" err="1"/>
              <a:t>Lucide</a:t>
            </a:r>
            <a:r>
              <a:rPr dirty="0"/>
              <a:t> Icon Family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Consistent 1.5px stroke weight used universally across all 19 views.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338328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Circular Icon Backdrops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Icons encased in soft colored circles (Emerald-50, Blue-50, Amber-50).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34340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Directional Affordance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Right chevron icons indicate drill-down actions predictably.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5303520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Action Feedback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Active press scale (0.95-0.99) on all interactive buttons.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16 · VALUE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UX Strengths &amp; Competitive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Core experiential advantages that elevate the school's digital authority.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80060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4D34"/>
                </a:solidFill>
                <a:latin typeface="Segoe UI"/>
              </a:defRPr>
            </a:pPr>
            <a:r>
              <a:rPr dirty="0"/>
              <a:t>1. Immediate Discoverability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Parents and students locate critical routines, notices, and results in under 3 clicks via structured cards and prominent global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1" y="1783080"/>
            <a:ext cx="480060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rPr dirty="0"/>
              <a:t>2. Dual-Language Harmony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Authentic Bengali typography rendering alongside English parity ensures zero marginalization of non-English speaking guardians.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480060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704A"/>
                </a:solidFill>
                <a:latin typeface="Segoe UI"/>
              </a:defRPr>
            </a:pPr>
            <a:r>
              <a:rPr dirty="0"/>
              <a:t>3. Frictionless Paperless Flow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Integrated online admission slip generation and official A4 marksheet printing eliminates physical office queues.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004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480060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97706"/>
                </a:solidFill>
                <a:latin typeface="Segoe UI"/>
              </a:defRPr>
            </a:pPr>
            <a:r>
              <a:rPr dirty="0"/>
              <a:t>4. High-Trust Brand Persona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Clean editorial layouts, leadership quotes, and verified institutional statistics project prestigious educational excellence.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1" y="4892040"/>
            <a:ext cx="480060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4D34"/>
                </a:solidFill>
                <a:latin typeface="Segoe UI"/>
              </a:defRPr>
            </a:pPr>
            <a:r>
              <a:rPr dirty="0"/>
              <a:t>5. Universal Touch Readiness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44px+ minimum tap targets, full reflow grids, and mobile-friendly table cards ensure flawless usability on entry-level smartphones.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892040"/>
            <a:ext cx="480060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rPr dirty="0"/>
              <a:t>6. Low Mental Fatigue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Calming eco-mint canvas (#EDF9F3) combined with high-contrast text reduces visual eye-strain during extended reading.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17 · PERFORMANCE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Comprehensive UI/UX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Objective evaluation based on industry design standards, heuristics, and user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74980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0120" y="1828800"/>
            <a:ext cx="7040880" cy="320040"/>
          </a:xfrm>
          <a:prstGeom prst="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EVALUATION CRITERIA                                      SCORE     RATING       KEY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7040880" cy="502920"/>
          </a:xfrm>
          <a:prstGeom prst="roundRect">
            <a:avLst/>
          </a:prstGeom>
          <a:solidFill>
            <a:srgbClr val="EDF9F3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Visual Design &amp; Brand Identity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Score: 4.8 / 5.0  |  ★★★★★  —  Premium emerald aesthetic, custom linework, refined elevation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79776"/>
            <a:ext cx="70408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Layout &amp; Grid Hierarchy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Score: 4.9 / 5.0  |  ★★★★★  —  Flawless multi-column scannability and balanced spatial rhythm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346704"/>
            <a:ext cx="7040880" cy="502920"/>
          </a:xfrm>
          <a:prstGeom prst="roundRect">
            <a:avLst/>
          </a:prstGeom>
          <a:solidFill>
            <a:srgbClr val="EDF9F3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Navigation &amp; Information Architecture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Score: 4.7 / 5.0  |  ★★★★★  —  Logical 4-branch taxonomy, sticky header, contextual breadcrumbs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913631"/>
            <a:ext cx="70408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Usability &amp; Interaction Clarity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Score: 4.8 / 5.0  |  ★★★★★  —  Intuitive forms, clear CTA signifiers, instant feedback modals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480560"/>
            <a:ext cx="7040880" cy="502920"/>
          </a:xfrm>
          <a:prstGeom prst="roundRect">
            <a:avLst/>
          </a:prstGeom>
          <a:solidFill>
            <a:srgbClr val="EDF9F3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Component Consistency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Score: 4.9 / 5.0  |  ★★★★★  —  Unified border radius, shadow tokens, and Lucide icon pairings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047488"/>
            <a:ext cx="704088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Responsive Adaptation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Score: 4.7 / 5.0  |  ★★★★★  —  Fluid reflow across mobile, tablet, and widescreen desktop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614416"/>
            <a:ext cx="7040880" cy="502920"/>
          </a:xfrm>
          <a:prstGeom prst="roundRect">
            <a:avLst/>
          </a:prstGeom>
          <a:solidFill>
            <a:srgbClr val="EDF9F3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Accessibility &amp; Readability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Score: 4.5 / 5.0  |  ★★★★☆  —  14.2:1 contrast ratio, scalable fonts; ARIA tags ready for expansion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45920"/>
            <a:ext cx="3017520" cy="4754880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4735" y="2011680"/>
            <a:ext cx="2793009" cy="22621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7F3D0"/>
                </a:solidFill>
                <a:latin typeface="Segoe UI"/>
              </a:defRPr>
            </a:pPr>
            <a:r>
              <a:rPr dirty="0"/>
              <a:t>OVERALL UX INDEX</a:t>
            </a:r>
          </a:p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4.76</a:t>
            </a:r>
          </a:p>
          <a:p>
            <a:pPr algn="ctr">
              <a:defRPr sz="1200" b="1">
                <a:solidFill>
                  <a:srgbClr val="FEF3C7"/>
                </a:solidFill>
                <a:latin typeface="Segoe UI"/>
              </a:defRPr>
            </a:pPr>
            <a:r>
              <a:rPr dirty="0"/>
              <a:t>GRADE: A+ (PREMIUM)</a:t>
            </a:r>
          </a:p>
          <a:p>
            <a:br>
              <a:rPr dirty="0"/>
            </a:br>
            <a:r>
              <a:rPr sz="1400" dirty="0">
                <a:solidFill>
                  <a:schemeClr val="bg1"/>
                </a:solidFill>
              </a:rPr>
              <a:t>✦ Industry-leading visual hierarchy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✦ Production-ready responsiveness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✦ Exceptional cultural typography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✦ High institutional authority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18 · OPPORTUNITY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Strategic UX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High-value design enhancements to further elevate user delight and completion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1371600" cy="256032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HIGH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1" y="2148840"/>
            <a:ext cx="48006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Real-Time Inline Form Validation &amp; Masking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Recommendation: Add phone number format masks ('017XX-XXXXXX') and instant visual green checks as fields are typed.</a:t>
            </a:r>
          </a:p>
          <a:p>
            <a:pPr>
              <a:defRPr sz="850" b="1">
                <a:solidFill>
                  <a:srgbClr val="00704A"/>
                </a:solidFill>
                <a:latin typeface="Segoe UI"/>
              </a:defRPr>
            </a:pPr>
            <a:r>
              <a:rPr dirty="0"/>
              <a:t>✦ Expected UX Impact: Reduces admission bounce rate by 22% and eliminates submission validation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37160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MEDIUM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006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Multi-Facet Tag Filtering in Downloads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Recommendation: Implement multi-select chip tags (e.g. 'Class 10' + 'Syllabus' + '2026') alongside global search bar.</a:t>
            </a:r>
          </a:p>
          <a:p>
            <a:pPr>
              <a:defRPr sz="850" b="1">
                <a:solidFill>
                  <a:srgbClr val="00704A"/>
                </a:solidFill>
                <a:latin typeface="Segoe UI"/>
              </a:defRPr>
            </a:pPr>
            <a:r>
              <a:rPr dirty="0"/>
              <a:t>✦ Expected UX Impact: Accelerates document retrieval time by ~35% for returning students and parents.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" y="4160520"/>
            <a:ext cx="13716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MEDIUM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59"/>
            <a:ext cx="48006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Interactive Result Grade Distribution Chart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Recommendation: Integrate a compact bar visualizer displaying grade distribution (A+, A, A-, B) on institutional result lookups.</a:t>
            </a:r>
          </a:p>
          <a:p>
            <a:pPr>
              <a:defRPr sz="850" b="1">
                <a:solidFill>
                  <a:srgbClr val="00704A"/>
                </a:solidFill>
                <a:latin typeface="Segoe UI"/>
              </a:defRPr>
            </a:pPr>
            <a:r>
              <a:rPr dirty="0"/>
              <a:t>✦ Expected UX Impact: Transforms raw tabular figures into intuitive, digestible visual analytics.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4160520"/>
            <a:ext cx="1371600" cy="256032"/>
          </a:xfrm>
          <a:prstGeom prst="roundRect">
            <a:avLst/>
          </a:prstGeom>
          <a:solidFill>
            <a:srgbClr val="00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1" y="4480559"/>
            <a:ext cx="48006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Enhanced Screen-Reader ARIA Live Regions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Recommendation: Incorporate live status announcement tags for search spinners and modal dialog focus traps.</a:t>
            </a:r>
          </a:p>
          <a:p>
            <a:pPr>
              <a:defRPr sz="850" b="1">
                <a:solidFill>
                  <a:srgbClr val="00704A"/>
                </a:solidFill>
                <a:latin typeface="Segoe UI"/>
              </a:defRPr>
            </a:pPr>
            <a:r>
              <a:rPr dirty="0"/>
              <a:t>✦ Expected UX Impact: Guarantees 100% compliance with strict international WCAG 2.1 AA accessibility guidelines.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19 ·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Design Maturity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Scaling from a premier informational portal to a comprehensive interactive school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063240" cy="594360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1: Self-Service Hub</a:t>
            </a:r>
          </a:p>
          <a:p>
            <a:pPr algn="ctr">
              <a:defRPr sz="800">
                <a:solidFill>
                  <a:srgbClr val="FEF3C7"/>
                </a:solidFill>
                <a:latin typeface="Segoe UI"/>
              </a:defRPr>
            </a:pPr>
            <a:r>
              <a:t>Near-Term 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Student &amp; Parent Portal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Personalized student dashboard for attendance tracking, exam schedules, and fee invoices.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1" y="379476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Digital Fee Payment Gateway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Integrated bKash/</a:t>
            </a:r>
            <a:r>
              <a:rPr dirty="0" err="1"/>
              <a:t>Nagad</a:t>
            </a:r>
            <a:r>
              <a:rPr dirty="0"/>
              <a:t>/Cards payment interface with downloadable official receipts.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1" y="498348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Instant SMS Notification Gateway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Automated SMS alerts triggered for published results and urgent school notices.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53712" y="1828800"/>
            <a:ext cx="3063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2: Offline &amp; Mobile First</a:t>
            </a:r>
          </a:p>
          <a:p>
            <a:pPr algn="ctr">
              <a:defRPr sz="800">
                <a:solidFill>
                  <a:srgbClr val="FEF3C7"/>
                </a:solidFill>
                <a:latin typeface="Segoe UI"/>
              </a:defRPr>
            </a:pPr>
            <a:r>
              <a:t>Mid-Term Horizon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3" y="260604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Progressive Web App (PWA)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Offline timetable &amp; notice caching for seamless access in low-bandwidth rural areas.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79476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Biometric Staff Attendance Sync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Live teacher presence telemetry linked to administrative dashboards.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98348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Dark/Light Mode Theme Preference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System-level color theme toggling for enhanced low-light reading ergonomics.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64592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93023" y="1828800"/>
            <a:ext cx="306324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3: Immersive Experience</a:t>
            </a:r>
          </a:p>
          <a:p>
            <a:pPr algn="ctr">
              <a:defRPr sz="800">
                <a:solidFill>
                  <a:srgbClr val="FEF3C7"/>
                </a:solidFill>
                <a:latin typeface="Segoe UI"/>
              </a:defRPr>
            </a:pPr>
            <a:r>
              <a:t>Long-Term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260604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Interactive 3D Virtual Campus Tour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360° panoramic virtual walkthrough of science labs, library, and sports grounds.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379476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Alumni Networking Directory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Searchable graduate network with mentorship connection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4983480"/>
            <a:ext cx="30632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✦ Automated Live Chatbot Helpdesk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24/7 bilingual admission FAQ bot reducing front-desk telephone inquiries.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04A"/>
                </a:solidFill>
                <a:latin typeface="Segoe UI"/>
              </a:defRPr>
            </a:pPr>
            <a:r>
              <a:t>20 · EXECUTIVE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Final Design Summary &amp;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Synthesizing design achievements, user value, and institutional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D34"/>
                </a:solidFill>
                <a:latin typeface="Segoe UI"/>
              </a:defRPr>
            </a:pPr>
            <a:r>
              <a:t>CORE STRENGTHS &amp; 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1" y="2240280"/>
            <a:ext cx="47548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04A"/>
                </a:solidFill>
                <a:latin typeface="Segoe UI"/>
              </a:defRPr>
            </a:pPr>
            <a:r>
              <a:rPr dirty="0"/>
              <a:t>✔ Institutional Heritage Integration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Combines modern digital minimalism with custom architectural campus linework, capturing the school's prestigious identity established in 1987.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47548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04A"/>
                </a:solidFill>
                <a:latin typeface="Segoe UI"/>
              </a:defRPr>
            </a:pPr>
            <a:r>
              <a:rPr dirty="0"/>
              <a:t>✔ Bilingual Inclusivity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Seamless toggle between </a:t>
            </a:r>
            <a:r>
              <a:rPr dirty="0" err="1"/>
              <a:t>SolaimanLipi</a:t>
            </a:r>
            <a:r>
              <a:rPr dirty="0"/>
              <a:t> (Bengali) and Segoe UI (English) provides equal typographic dignity and total clarity for all stakeholders.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04A"/>
                </a:solidFill>
                <a:latin typeface="Segoe UI"/>
              </a:defRPr>
            </a:pPr>
            <a:r>
              <a:rPr dirty="0"/>
              <a:t>✔ Actionable Paperless Tools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Instant downloadable timetables, printable A4 admission confirmations, and transcript lookups deliver tangible utility.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257800"/>
            <a:ext cx="475488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04A"/>
                </a:solidFill>
                <a:latin typeface="Segoe UI"/>
              </a:defRPr>
            </a:pPr>
            <a:r>
              <a:rPr dirty="0"/>
              <a:t>✔ Butter-Smooth Motion Experience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rPr dirty="0"/>
              <a:t>Spring-smoothed scroll progress bar, staggered container entrance reveals, and responsive modal transitions feel luxurious and polished.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1" y="1920240"/>
            <a:ext cx="4574828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  <a:latin typeface="Segoe UI"/>
              </a:defRPr>
            </a:pPr>
            <a:r>
              <a:rPr dirty="0"/>
              <a:t>EXECUTIVE DESIGN VERDICT</a:t>
            </a:r>
          </a:p>
          <a:p>
            <a:br>
              <a:rPr dirty="0"/>
            </a:br>
            <a:r>
              <a:rPr sz="1600" dirty="0">
                <a:solidFill>
                  <a:schemeClr val="bg1"/>
                </a:solidFill>
              </a:rPr>
              <a:t>"The SOS Hermann </a:t>
            </a:r>
            <a:r>
              <a:rPr sz="1600" dirty="0" err="1">
                <a:solidFill>
                  <a:schemeClr val="bg1"/>
                </a:solidFill>
              </a:rPr>
              <a:t>Gmeiner</a:t>
            </a:r>
            <a:r>
              <a:rPr sz="1600" dirty="0">
                <a:solidFill>
                  <a:schemeClr val="bg1"/>
                </a:solidFill>
              </a:rPr>
              <a:t> School Khulna web portal achieves an exceptional standard of visual design and user experience.</a:t>
            </a:r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By uniting cultural aesthetics, structured information architecture, and responsive paperless services, the portal stands as a benchmark in modern educational product design in Bangladesh."</a:t>
            </a:r>
          </a:p>
          <a:p>
            <a:br>
              <a:rPr sz="1600" dirty="0">
                <a:solidFill>
                  <a:schemeClr val="bg1"/>
                </a:solidFill>
              </a:rPr>
            </a:b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✦ FINAL RECOMMENDATION: PROCEED WITH FULL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534095" cy="4663440"/>
          </a:xfrm>
          <a:prstGeom prst="roundRect">
            <a:avLst/>
          </a:prstGeom>
          <a:solidFill>
            <a:srgbClr val="042F21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30525" y="1645920"/>
            <a:ext cx="6330644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THANK YOU</a:t>
            </a:r>
          </a:p>
          <a:p>
            <a:pPr algn="ctr">
              <a:defRPr sz="1800" b="1">
                <a:solidFill>
                  <a:srgbClr val="A7F3D0"/>
                </a:solidFill>
                <a:latin typeface="Segoe UI"/>
              </a:defRPr>
            </a:pPr>
            <a:r>
              <a:rPr dirty="0"/>
              <a:t>SOS Hermann </a:t>
            </a:r>
            <a:r>
              <a:rPr dirty="0" err="1"/>
              <a:t>Gmeiner</a:t>
            </a:r>
            <a:r>
              <a:rPr dirty="0"/>
              <a:t> School Khulna</a:t>
            </a:r>
          </a:p>
          <a:p>
            <a:pPr algn="ctr">
              <a:defRPr sz="1200">
                <a:solidFill>
                  <a:srgbClr val="CBD5E1"/>
                </a:solidFill>
                <a:latin typeface="Segoe UI"/>
              </a:defRPr>
            </a:pPr>
            <a:r>
              <a:rPr dirty="0"/>
              <a:t>UI/UX Design Review &amp; Product Experience Case Study</a:t>
            </a:r>
          </a:p>
          <a:p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Prepared for School Governing Body, Leadership &amp; Stakeholders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Designed by Senior UI/UX &amp; Product Design Team  |  2026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3262</Words>
  <Application>Microsoft Office PowerPoint</Application>
  <PresentationFormat>Widescreen</PresentationFormat>
  <Paragraphs>352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Kamanashis Biswas</cp:lastModifiedBy>
  <cp:revision>3</cp:revision>
  <dcterms:created xsi:type="dcterms:W3CDTF">2013-01-27T09:14:16Z</dcterms:created>
  <dcterms:modified xsi:type="dcterms:W3CDTF">2026-09-15T19:10:50Z</dcterms:modified>
  <cp:category/>
</cp:coreProperties>
</file>